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3716000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78" d="100"/>
          <a:sy n="78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421660"/>
            <a:ext cx="10287000" cy="3024293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562581"/>
            <a:ext cx="10287000" cy="2097299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8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2165669"/>
            <a:ext cx="11830050" cy="3613467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5813320"/>
            <a:ext cx="11830050" cy="1900237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5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312458"/>
            <a:ext cx="582930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312458"/>
            <a:ext cx="582930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5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62493"/>
            <a:ext cx="11830050" cy="16790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2129473"/>
            <a:ext cx="5802510" cy="104362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3173095"/>
            <a:ext cx="5802510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129473"/>
            <a:ext cx="5831087" cy="104362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173095"/>
            <a:ext cx="5831087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2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00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4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579120"/>
            <a:ext cx="4423767" cy="202692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250739"/>
            <a:ext cx="6943725" cy="617325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606040"/>
            <a:ext cx="4423767" cy="4828011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1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579120"/>
            <a:ext cx="4423767" cy="202692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250739"/>
            <a:ext cx="6943725" cy="6173258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606040"/>
            <a:ext cx="4423767" cy="4828011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2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462492"/>
            <a:ext cx="2957513" cy="73616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462492"/>
            <a:ext cx="8701088" cy="73616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5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62493"/>
            <a:ext cx="11830050" cy="1679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312458"/>
            <a:ext cx="11830050" cy="551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051377"/>
            <a:ext cx="308610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42FBD-4FE9-FF48-B956-74061C52485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051377"/>
            <a:ext cx="462915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051377"/>
            <a:ext cx="308610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49D3B-4576-364B-A059-057FADF4E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2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E6CCE3-E551-A618-FAAE-56DA4D4E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06" t="448" r="1997" b="600"/>
          <a:stretch>
            <a:fillRect/>
          </a:stretch>
        </p:blipFill>
        <p:spPr>
          <a:xfrm>
            <a:off x="6999136" y="343320"/>
            <a:ext cx="4575231" cy="7315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5D6CF-A6E8-333B-8FCB-B5D3750FEF17}"/>
              </a:ext>
            </a:extLst>
          </p:cNvPr>
          <p:cNvSpPr txBox="1"/>
          <p:nvPr/>
        </p:nvSpPr>
        <p:spPr>
          <a:xfrm>
            <a:off x="6999136" y="7658521"/>
            <a:ext cx="31152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aramond" panose="02020404030301010803" pitchFamily="18" charset="0"/>
              </a:rPr>
              <a:t>Word On Fire</a:t>
            </a:r>
          </a:p>
          <a:p>
            <a:r>
              <a:rPr lang="en-US" sz="1400" dirty="0">
                <a:latin typeface="Garamond" panose="02020404030301010803" pitchFamily="18" charset="0"/>
              </a:rPr>
              <a:t>Trim Size: </a:t>
            </a:r>
            <a:r>
              <a:rPr lang="en-US" sz="1400" b="1" dirty="0">
                <a:latin typeface="Garamond" panose="02020404030301010803" pitchFamily="18" charset="0"/>
              </a:rPr>
              <a:t>5" x 8"</a:t>
            </a:r>
          </a:p>
          <a:p>
            <a:r>
              <a:rPr lang="en-US" sz="1400" dirty="0">
                <a:latin typeface="Garamond" panose="02020404030301010803" pitchFamily="18" charset="0"/>
              </a:rPr>
              <a:t>Font Size: </a:t>
            </a:r>
            <a:r>
              <a:rPr lang="en-US" sz="1400" b="1" dirty="0">
                <a:latin typeface="Garamond" panose="02020404030301010803" pitchFamily="18" charset="0"/>
              </a:rPr>
              <a:t>11.4 pt</a:t>
            </a:r>
          </a:p>
          <a:p>
            <a:r>
              <a:rPr lang="en-US" sz="1400" dirty="0">
                <a:latin typeface="Garamond" panose="02020404030301010803" pitchFamily="18" charset="0"/>
              </a:rPr>
              <a:t>Margin:    </a:t>
            </a:r>
            <a:r>
              <a:rPr lang="en-US" sz="1400" b="1" dirty="0">
                <a:latin typeface="Garamond" panose="02020404030301010803" pitchFamily="18" charset="0"/>
              </a:rPr>
              <a:t>56% of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C13496-7259-FE10-E42C-D6557005D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2" y="1489370"/>
            <a:ext cx="4123944" cy="6169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BFD7A1-2DAA-2701-2212-7EDFCDBF42D3}"/>
              </a:ext>
            </a:extLst>
          </p:cNvPr>
          <p:cNvSpPr txBox="1"/>
          <p:nvPr/>
        </p:nvSpPr>
        <p:spPr>
          <a:xfrm>
            <a:off x="2592923" y="7658521"/>
            <a:ext cx="2856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aramond" panose="02020404030301010803" pitchFamily="18" charset="0"/>
              </a:rPr>
              <a:t>Ascension</a:t>
            </a:r>
          </a:p>
          <a:p>
            <a:r>
              <a:rPr lang="en-US" sz="1400" dirty="0">
                <a:latin typeface="Garamond" panose="02020404030301010803" pitchFamily="18" charset="0"/>
              </a:rPr>
              <a:t>Trim Size: </a:t>
            </a:r>
            <a:r>
              <a:rPr lang="en-US" sz="1400" b="1" dirty="0">
                <a:latin typeface="Garamond" panose="02020404030301010803" pitchFamily="18" charset="0"/>
              </a:rPr>
              <a:t>4.5" x 6.75"</a:t>
            </a:r>
          </a:p>
          <a:p>
            <a:r>
              <a:rPr lang="en-US" sz="1400" dirty="0">
                <a:latin typeface="Garamond" panose="02020404030301010803" pitchFamily="18" charset="0"/>
              </a:rPr>
              <a:t>Font Size: </a:t>
            </a:r>
            <a:r>
              <a:rPr lang="en-US" sz="1400" b="1" dirty="0">
                <a:latin typeface="Garamond" panose="02020404030301010803" pitchFamily="18" charset="0"/>
              </a:rPr>
              <a:t>10 pt</a:t>
            </a:r>
          </a:p>
          <a:p>
            <a:r>
              <a:rPr lang="en-US" sz="1400" dirty="0">
                <a:latin typeface="Garamond" panose="02020404030301010803" pitchFamily="18" charset="0"/>
              </a:rPr>
              <a:t>Margin:    </a:t>
            </a:r>
            <a:r>
              <a:rPr lang="en-US" sz="1400" b="1" dirty="0">
                <a:latin typeface="Garamond" panose="02020404030301010803" pitchFamily="18" charset="0"/>
              </a:rPr>
              <a:t>40% of page</a:t>
            </a:r>
          </a:p>
        </p:txBody>
      </p:sp>
    </p:spTree>
    <p:extLst>
      <p:ext uri="{BB962C8B-B14F-4D97-AF65-F5344CB8AC3E}">
        <p14:creationId xmlns:p14="http://schemas.microsoft.com/office/powerpoint/2010/main" val="400051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9675-C0D2-C913-3772-7DC1CB2E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34DE94C-1D22-B082-268A-D692EFFF84E8}"/>
              </a:ext>
            </a:extLst>
          </p:cNvPr>
          <p:cNvGrpSpPr/>
          <p:nvPr/>
        </p:nvGrpSpPr>
        <p:grpSpPr>
          <a:xfrm>
            <a:off x="418853" y="343320"/>
            <a:ext cx="12878550" cy="8269308"/>
            <a:chOff x="418853" y="343320"/>
            <a:chExt cx="12878550" cy="82693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2F7954-CAED-3E0D-B8A5-EBEC520A6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6506" t="448" r="1997" b="600"/>
            <a:stretch>
              <a:fillRect/>
            </a:stretch>
          </p:blipFill>
          <p:spPr>
            <a:xfrm>
              <a:off x="8722172" y="343320"/>
              <a:ext cx="4575231" cy="73152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F70FB0-8AD1-44BE-A64E-B14ADE6DF689}"/>
                </a:ext>
              </a:extLst>
            </p:cNvPr>
            <p:cNvSpPr txBox="1"/>
            <p:nvPr/>
          </p:nvSpPr>
          <p:spPr>
            <a:xfrm>
              <a:off x="8722172" y="7658521"/>
              <a:ext cx="311520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Garamond" panose="02020404030301010803" pitchFamily="18" charset="0"/>
                </a:rPr>
                <a:t>Word On Fire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Trim Size: </a:t>
              </a:r>
              <a:r>
                <a:rPr lang="en-US" sz="1400" b="1" dirty="0">
                  <a:latin typeface="Garamond" panose="02020404030301010803" pitchFamily="18" charset="0"/>
                </a:rPr>
                <a:t>5" x 8"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Font Size: </a:t>
              </a:r>
              <a:r>
                <a:rPr lang="en-US" sz="1400" b="1" dirty="0">
                  <a:latin typeface="Garamond" panose="02020404030301010803" pitchFamily="18" charset="0"/>
                </a:rPr>
                <a:t>11.4 pt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Margin:    ~</a:t>
              </a:r>
              <a:r>
                <a:rPr lang="en-US" sz="1400" b="1" dirty="0">
                  <a:latin typeface="Garamond" panose="02020404030301010803" pitchFamily="18" charset="0"/>
                </a:rPr>
                <a:t>55% of page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810305D-7535-C6B3-E8BC-1587230A8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4558" y="1489370"/>
              <a:ext cx="4123944" cy="616915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D0F9EB-5894-81E6-9BA9-9FB954805AB8}"/>
                </a:ext>
              </a:extLst>
            </p:cNvPr>
            <p:cNvSpPr txBox="1"/>
            <p:nvPr/>
          </p:nvSpPr>
          <p:spPr>
            <a:xfrm>
              <a:off x="4544559" y="7658521"/>
              <a:ext cx="28568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Garamond" panose="02020404030301010803" pitchFamily="18" charset="0"/>
                </a:rPr>
                <a:t>Ascension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Trim Size: </a:t>
              </a:r>
              <a:r>
                <a:rPr lang="en-US" sz="1400" b="1" dirty="0">
                  <a:latin typeface="Garamond" panose="02020404030301010803" pitchFamily="18" charset="0"/>
                </a:rPr>
                <a:t>4.5" x 6.75"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Font Size: </a:t>
              </a:r>
              <a:r>
                <a:rPr lang="en-US" sz="1400" b="1" dirty="0">
                  <a:latin typeface="Garamond" panose="02020404030301010803" pitchFamily="18" charset="0"/>
                </a:rPr>
                <a:t>10 pt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Margin:    ~</a:t>
              </a:r>
              <a:r>
                <a:rPr lang="en-US" sz="1400" b="1" dirty="0">
                  <a:latin typeface="Garamond" panose="02020404030301010803" pitchFamily="18" charset="0"/>
                </a:rPr>
                <a:t>40% of page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5DE9446-3D70-5811-B627-A0F67AECB5CA}"/>
                </a:ext>
              </a:extLst>
            </p:cNvPr>
            <p:cNvSpPr/>
            <p:nvPr/>
          </p:nvSpPr>
          <p:spPr>
            <a:xfrm>
              <a:off x="5086447" y="1990846"/>
              <a:ext cx="3020993" cy="5058136"/>
            </a:xfrm>
            <a:prstGeom prst="rect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1AC8A2-D9BA-5602-0F45-9216B569CA9A}"/>
                </a:ext>
              </a:extLst>
            </p:cNvPr>
            <p:cNvSpPr/>
            <p:nvPr/>
          </p:nvSpPr>
          <p:spPr>
            <a:xfrm>
              <a:off x="9674845" y="1217272"/>
              <a:ext cx="2509776" cy="5831710"/>
            </a:xfrm>
            <a:prstGeom prst="rect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CD5F07-C625-E96E-B50C-2EB32C83A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068" t="10708" r="6353" b="18314"/>
            <a:stretch>
              <a:fillRect/>
            </a:stretch>
          </p:blipFill>
          <p:spPr>
            <a:xfrm rot="5400000">
              <a:off x="-782538" y="2512781"/>
              <a:ext cx="6400800" cy="389067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68465D-9A5F-CE69-D24E-687C647EB046}"/>
                </a:ext>
              </a:extLst>
            </p:cNvPr>
            <p:cNvSpPr/>
            <p:nvPr/>
          </p:nvSpPr>
          <p:spPr>
            <a:xfrm>
              <a:off x="907365" y="1933502"/>
              <a:ext cx="3174817" cy="5343598"/>
            </a:xfrm>
            <a:prstGeom prst="rect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C01832-5DFC-FEF9-099A-2745ABCFEA89}"/>
                </a:ext>
              </a:extLst>
            </p:cNvPr>
            <p:cNvSpPr txBox="1"/>
            <p:nvPr/>
          </p:nvSpPr>
          <p:spPr>
            <a:xfrm>
              <a:off x="418853" y="7658520"/>
              <a:ext cx="28568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Garamond" panose="02020404030301010803" pitchFamily="18" charset="0"/>
                </a:rPr>
                <a:t>Catholic Book Publishing Co.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Trim Size: </a:t>
              </a:r>
              <a:r>
                <a:rPr lang="en-US" sz="1400" b="1" dirty="0">
                  <a:latin typeface="Garamond" panose="02020404030301010803" pitchFamily="18" charset="0"/>
                </a:rPr>
                <a:t>4.75" x 7"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Font Size: </a:t>
              </a:r>
              <a:r>
                <a:rPr lang="en-US" sz="1400" b="1" dirty="0">
                  <a:latin typeface="Garamond" panose="02020404030301010803" pitchFamily="18" charset="0"/>
                </a:rPr>
                <a:t>10.5 pt</a:t>
              </a:r>
            </a:p>
            <a:p>
              <a:r>
                <a:rPr lang="en-US" sz="1400" dirty="0">
                  <a:latin typeface="Garamond" panose="02020404030301010803" pitchFamily="18" charset="0"/>
                </a:rPr>
                <a:t>Margin:    </a:t>
              </a:r>
              <a:r>
                <a:rPr lang="en-US" sz="1400" b="1" dirty="0">
                  <a:latin typeface="Garamond" panose="02020404030301010803" pitchFamily="18" charset="0"/>
                </a:rPr>
                <a:t>~35% of page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760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ECEB-F32E-5F89-2AA2-3464BC56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F6D547D-6DA1-A744-E4C8-478B07863714}"/>
              </a:ext>
            </a:extLst>
          </p:cNvPr>
          <p:cNvGrpSpPr/>
          <p:nvPr/>
        </p:nvGrpSpPr>
        <p:grpSpPr>
          <a:xfrm>
            <a:off x="1861458" y="533400"/>
            <a:ext cx="10206401" cy="7620000"/>
            <a:chOff x="1861458" y="533400"/>
            <a:chExt cx="10206401" cy="7620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DB0C835-B24C-A0B5-727B-A8999F3FC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376" r="13695"/>
            <a:stretch>
              <a:fillRect/>
            </a:stretch>
          </p:blipFill>
          <p:spPr>
            <a:xfrm>
              <a:off x="1861458" y="533400"/>
              <a:ext cx="5404757" cy="7620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3B466B-86E8-F80D-2DC6-2A16B791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9336" t="8054" r="20802" b="7699"/>
            <a:stretch>
              <a:fillRect/>
            </a:stretch>
          </p:blipFill>
          <p:spPr>
            <a:xfrm>
              <a:off x="7266215" y="533400"/>
              <a:ext cx="4801644" cy="76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673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9C44-FD21-75A6-F781-37601928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B48DF5-F7C6-C84E-EB6D-F512E61FE50D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1295400"/>
          <a:ext cx="9144000" cy="2400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15229617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12026582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408144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71622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Ascension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32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88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2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91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7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67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341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112</Words>
  <Application>Microsoft Macintosh PowerPoint</Application>
  <PresentationFormat>Custom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Kudija</dc:creator>
  <cp:lastModifiedBy>Matthew Kudija</cp:lastModifiedBy>
  <cp:revision>6</cp:revision>
  <dcterms:created xsi:type="dcterms:W3CDTF">2026-07-27T21:09:14Z</dcterms:created>
  <dcterms:modified xsi:type="dcterms:W3CDTF">2026-07-28T00:21:54Z</dcterms:modified>
</cp:coreProperties>
</file>